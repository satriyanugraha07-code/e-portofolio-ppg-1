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Amsterdam Four" panose="020B0604020202020204" charset="0"/>
      <p:regular r:id="rId13"/>
    </p:embeddedFont>
    <p:embeddedFont>
      <p:font typeface="Glacial Indifference" panose="020B0604020202020204" charset="0"/>
      <p:regular r:id="rId14"/>
    </p:embeddedFont>
    <p:embeddedFont>
      <p:font typeface="Montserrat" panose="00000500000000000000" pitchFamily="50" charset="0"/>
      <p:regular r:id="rId15"/>
      <p:bold r:id="rId16"/>
      <p:italic r:id="rId17"/>
      <p:boldItalic r:id="rId18"/>
    </p:embeddedFont>
    <p:embeddedFont>
      <p:font typeface="Montserrat Bold" panose="020B0604020202020204" charset="0"/>
      <p:regular r:id="rId19"/>
    </p:embeddedFont>
    <p:embeddedFont>
      <p:font typeface="Montserrat Ultra-Bold" panose="020B0604020202020204" charset="0"/>
      <p:regular r:id="rId20"/>
    </p:embeddedFont>
    <p:embeddedFont>
      <p:font typeface="Open Sans" panose="020B0606030504020204" pitchFamily="34" charset="0"/>
      <p:regular r:id="rId21"/>
    </p:embeddedFont>
    <p:embeddedFont>
      <p:font typeface="Open Sans Bold" panose="020B0806030504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778"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5.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8E7E7"/>
        </a:solidFill>
        <a:effectLst/>
      </p:bgPr>
    </p:bg>
    <p:spTree>
      <p:nvGrpSpPr>
        <p:cNvPr id="1" name=""/>
        <p:cNvGrpSpPr/>
        <p:nvPr/>
      </p:nvGrpSpPr>
      <p:grpSpPr>
        <a:xfrm>
          <a:off x="0" y="0"/>
          <a:ext cx="0" cy="0"/>
          <a:chOff x="0" y="0"/>
          <a:chExt cx="0" cy="0"/>
        </a:xfrm>
      </p:grpSpPr>
      <p:sp>
        <p:nvSpPr>
          <p:cNvPr id="2" name="TextBox 2"/>
          <p:cNvSpPr txBox="1"/>
          <p:nvPr/>
        </p:nvSpPr>
        <p:spPr>
          <a:xfrm>
            <a:off x="724978" y="3827717"/>
            <a:ext cx="16838045" cy="3936490"/>
          </a:xfrm>
          <a:prstGeom prst="rect">
            <a:avLst/>
          </a:prstGeom>
        </p:spPr>
        <p:txBody>
          <a:bodyPr lIns="0" tIns="0" rIns="0" bIns="0" rtlCol="0" anchor="t">
            <a:spAutoFit/>
          </a:bodyPr>
          <a:lstStyle/>
          <a:p>
            <a:pPr algn="ctr">
              <a:lnSpc>
                <a:spcPts val="27521"/>
              </a:lnSpc>
            </a:pPr>
            <a:r>
              <a:rPr lang="en-US" sz="34401" b="1" spc="-3440">
                <a:solidFill>
                  <a:srgbClr val="1E1E1E"/>
                </a:solidFill>
                <a:latin typeface="Montserrat Ultra-Bold"/>
                <a:ea typeface="Montserrat Ultra-Bold"/>
                <a:cs typeface="Montserrat Ultra-Bold"/>
                <a:sym typeface="Montserrat Ultra-Bold"/>
              </a:rPr>
              <a:t>Proyeksi</a:t>
            </a:r>
          </a:p>
        </p:txBody>
      </p:sp>
      <p:sp>
        <p:nvSpPr>
          <p:cNvPr id="3" name="Freeform 3"/>
          <p:cNvSpPr/>
          <p:nvPr/>
        </p:nvSpPr>
        <p:spPr>
          <a:xfrm>
            <a:off x="16942223" y="1074087"/>
            <a:ext cx="317077" cy="149891"/>
          </a:xfrm>
          <a:custGeom>
            <a:avLst/>
            <a:gdLst/>
            <a:ahLst/>
            <a:cxnLst/>
            <a:rect l="l" t="t" r="r" b="b"/>
            <a:pathLst>
              <a:path w="317077" h="149891">
                <a:moveTo>
                  <a:pt x="0" y="0"/>
                </a:moveTo>
                <a:lnTo>
                  <a:pt x="317077" y="0"/>
                </a:lnTo>
                <a:lnTo>
                  <a:pt x="317077" y="149891"/>
                </a:lnTo>
                <a:lnTo>
                  <a:pt x="0" y="14989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7711732" y="8955038"/>
            <a:ext cx="2864537" cy="445302"/>
          </a:xfrm>
          <a:prstGeom prst="rect">
            <a:avLst/>
          </a:prstGeom>
        </p:spPr>
        <p:txBody>
          <a:bodyPr lIns="0" tIns="0" rIns="0" bIns="0" rtlCol="0" anchor="t">
            <a:spAutoFit/>
          </a:bodyPr>
          <a:lstStyle/>
          <a:p>
            <a:pPr algn="ctr">
              <a:lnSpc>
                <a:spcPts val="1720"/>
              </a:lnSpc>
            </a:pPr>
            <a:r>
              <a:rPr lang="en-US" sz="1720" spc="-34">
                <a:solidFill>
                  <a:srgbClr val="1E1E1E"/>
                </a:solidFill>
                <a:latin typeface="Montserrat"/>
                <a:ea typeface="Montserrat"/>
                <a:cs typeface="Montserrat"/>
                <a:sym typeface="Montserrat"/>
              </a:rPr>
              <a:t>Oleh</a:t>
            </a:r>
          </a:p>
          <a:p>
            <a:pPr algn="ctr">
              <a:lnSpc>
                <a:spcPts val="1720"/>
              </a:lnSpc>
            </a:pPr>
            <a:r>
              <a:rPr lang="en-US" sz="1720" spc="-34">
                <a:solidFill>
                  <a:srgbClr val="1E1E1E"/>
                </a:solidFill>
                <a:latin typeface="Montserrat"/>
                <a:ea typeface="Montserrat"/>
                <a:cs typeface="Montserrat"/>
                <a:sym typeface="Montserrat"/>
              </a:rPr>
              <a:t>Satriya </a:t>
            </a:r>
          </a:p>
        </p:txBody>
      </p:sp>
      <p:sp>
        <p:nvSpPr>
          <p:cNvPr id="5" name="TextBox 5"/>
          <p:cNvSpPr txBox="1"/>
          <p:nvPr/>
        </p:nvSpPr>
        <p:spPr>
          <a:xfrm>
            <a:off x="1028700" y="1076325"/>
            <a:ext cx="4309525" cy="262890"/>
          </a:xfrm>
          <a:prstGeom prst="rect">
            <a:avLst/>
          </a:prstGeom>
        </p:spPr>
        <p:txBody>
          <a:bodyPr lIns="0" tIns="0" rIns="0" bIns="0" rtlCol="0" anchor="t">
            <a:spAutoFit/>
          </a:bodyPr>
          <a:lstStyle/>
          <a:p>
            <a:pPr algn="l">
              <a:lnSpc>
                <a:spcPts val="2099"/>
              </a:lnSpc>
            </a:pPr>
            <a:r>
              <a:rPr lang="en-US" sz="2099" b="1" spc="-125">
                <a:solidFill>
                  <a:srgbClr val="1E1E1E"/>
                </a:solidFill>
                <a:latin typeface="Montserrat Bold"/>
                <a:ea typeface="Montserrat Bold"/>
                <a:cs typeface="Montserrat Bold"/>
                <a:sym typeface="Montserrat Bold"/>
              </a:rPr>
              <a:t>Membaca Gambar Teknik </a:t>
            </a:r>
          </a:p>
        </p:txBody>
      </p:sp>
      <p:sp>
        <p:nvSpPr>
          <p:cNvPr id="6" name="TextBox 6"/>
          <p:cNvSpPr txBox="1"/>
          <p:nvPr/>
        </p:nvSpPr>
        <p:spPr>
          <a:xfrm>
            <a:off x="14889053" y="1066800"/>
            <a:ext cx="1768402" cy="202565"/>
          </a:xfrm>
          <a:prstGeom prst="rect">
            <a:avLst/>
          </a:prstGeom>
        </p:spPr>
        <p:txBody>
          <a:bodyPr lIns="0" tIns="0" rIns="0" bIns="0" rtlCol="0" anchor="t">
            <a:spAutoFit/>
          </a:bodyPr>
          <a:lstStyle/>
          <a:p>
            <a:pPr algn="r">
              <a:lnSpc>
                <a:spcPts val="1599"/>
              </a:lnSpc>
            </a:pPr>
            <a:r>
              <a:rPr lang="en-US" sz="1599" spc="-95">
                <a:solidFill>
                  <a:srgbClr val="1E1E1E"/>
                </a:solidFill>
                <a:latin typeface="Montserrat"/>
                <a:ea typeface="Montserrat"/>
                <a:cs typeface="Montserrat"/>
                <a:sym typeface="Montserrat"/>
              </a:rPr>
              <a:t>01  april , 2026</a:t>
            </a:r>
          </a:p>
        </p:txBody>
      </p:sp>
      <p:sp>
        <p:nvSpPr>
          <p:cNvPr id="7" name="TextBox 7"/>
          <p:cNvSpPr txBox="1"/>
          <p:nvPr/>
        </p:nvSpPr>
        <p:spPr>
          <a:xfrm rot="-263831">
            <a:off x="4384653" y="2857395"/>
            <a:ext cx="12243792" cy="1226820"/>
          </a:xfrm>
          <a:prstGeom prst="rect">
            <a:avLst/>
          </a:prstGeom>
        </p:spPr>
        <p:txBody>
          <a:bodyPr lIns="0" tIns="0" rIns="0" bIns="0" rtlCol="0" anchor="t">
            <a:spAutoFit/>
          </a:bodyPr>
          <a:lstStyle/>
          <a:p>
            <a:pPr algn="ctr">
              <a:lnSpc>
                <a:spcPts val="10080"/>
              </a:lnSpc>
            </a:pPr>
            <a:r>
              <a:rPr lang="en-US" sz="7200" spc="-144">
                <a:solidFill>
                  <a:srgbClr val="FF3131"/>
                </a:solidFill>
                <a:latin typeface="Amsterdam Four"/>
                <a:ea typeface="Amsterdam Four"/>
                <a:cs typeface="Amsterdam Four"/>
                <a:sym typeface="Amsterdam Four"/>
              </a:rPr>
              <a:t>Gambar Teknik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8E7E7"/>
        </a:solidFill>
        <a:effectLst/>
      </p:bgPr>
    </p:bg>
    <p:spTree>
      <p:nvGrpSpPr>
        <p:cNvPr id="1" name=""/>
        <p:cNvGrpSpPr/>
        <p:nvPr/>
      </p:nvGrpSpPr>
      <p:grpSpPr>
        <a:xfrm>
          <a:off x="0" y="0"/>
          <a:ext cx="0" cy="0"/>
          <a:chOff x="0" y="0"/>
          <a:chExt cx="0" cy="0"/>
        </a:xfrm>
      </p:grpSpPr>
      <p:sp>
        <p:nvSpPr>
          <p:cNvPr id="2" name="Freeform 2"/>
          <p:cNvSpPr/>
          <p:nvPr/>
        </p:nvSpPr>
        <p:spPr>
          <a:xfrm>
            <a:off x="16942223" y="1074087"/>
            <a:ext cx="317077" cy="149891"/>
          </a:xfrm>
          <a:custGeom>
            <a:avLst/>
            <a:gdLst/>
            <a:ahLst/>
            <a:cxnLst/>
            <a:rect l="l" t="t" r="r" b="b"/>
            <a:pathLst>
              <a:path w="317077" h="149891">
                <a:moveTo>
                  <a:pt x="0" y="0"/>
                </a:moveTo>
                <a:lnTo>
                  <a:pt x="317077" y="0"/>
                </a:lnTo>
                <a:lnTo>
                  <a:pt x="317077" y="149891"/>
                </a:lnTo>
                <a:lnTo>
                  <a:pt x="0" y="14989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0888414" y="2534856"/>
            <a:ext cx="6053810" cy="2933530"/>
          </a:xfrm>
          <a:custGeom>
            <a:avLst/>
            <a:gdLst/>
            <a:ahLst/>
            <a:cxnLst/>
            <a:rect l="l" t="t" r="r" b="b"/>
            <a:pathLst>
              <a:path w="6053810" h="2933530">
                <a:moveTo>
                  <a:pt x="0" y="0"/>
                </a:moveTo>
                <a:lnTo>
                  <a:pt x="6053809" y="0"/>
                </a:lnTo>
                <a:lnTo>
                  <a:pt x="6053809" y="2933530"/>
                </a:lnTo>
                <a:lnTo>
                  <a:pt x="0" y="2933530"/>
                </a:lnTo>
                <a:lnTo>
                  <a:pt x="0" y="0"/>
                </a:lnTo>
                <a:close/>
              </a:path>
            </a:pathLst>
          </a:custGeom>
          <a:blipFill>
            <a:blip r:embed="rId3"/>
            <a:stretch>
              <a:fillRect b="-16315"/>
            </a:stretch>
          </a:blipFill>
        </p:spPr>
      </p:sp>
      <p:sp>
        <p:nvSpPr>
          <p:cNvPr id="4" name="Freeform 4"/>
          <p:cNvSpPr/>
          <p:nvPr/>
        </p:nvSpPr>
        <p:spPr>
          <a:xfrm>
            <a:off x="6790069" y="5897011"/>
            <a:ext cx="8196689" cy="3616801"/>
          </a:xfrm>
          <a:custGeom>
            <a:avLst/>
            <a:gdLst/>
            <a:ahLst/>
            <a:cxnLst/>
            <a:rect l="l" t="t" r="r" b="b"/>
            <a:pathLst>
              <a:path w="8196689" h="3616801">
                <a:moveTo>
                  <a:pt x="0" y="0"/>
                </a:moveTo>
                <a:lnTo>
                  <a:pt x="8196689" y="0"/>
                </a:lnTo>
                <a:lnTo>
                  <a:pt x="8196689" y="3616801"/>
                </a:lnTo>
                <a:lnTo>
                  <a:pt x="0" y="3616801"/>
                </a:lnTo>
                <a:lnTo>
                  <a:pt x="0" y="0"/>
                </a:lnTo>
                <a:close/>
              </a:path>
            </a:pathLst>
          </a:custGeom>
          <a:blipFill>
            <a:blip r:embed="rId4"/>
            <a:stretch>
              <a:fillRect l="-29839" t="-48022" b="-48022"/>
            </a:stretch>
          </a:blipFill>
        </p:spPr>
      </p:sp>
      <p:sp>
        <p:nvSpPr>
          <p:cNvPr id="5" name="TextBox 5"/>
          <p:cNvSpPr txBox="1"/>
          <p:nvPr/>
        </p:nvSpPr>
        <p:spPr>
          <a:xfrm>
            <a:off x="958996" y="3609188"/>
            <a:ext cx="7945076" cy="1859198"/>
          </a:xfrm>
          <a:prstGeom prst="rect">
            <a:avLst/>
          </a:prstGeom>
        </p:spPr>
        <p:txBody>
          <a:bodyPr lIns="0" tIns="0" rIns="0" bIns="0" rtlCol="0" anchor="t">
            <a:spAutoFit/>
          </a:bodyPr>
          <a:lstStyle/>
          <a:p>
            <a:pPr marL="776890" lvl="1" indent="-388445" algn="just">
              <a:lnSpc>
                <a:spcPts val="2878"/>
              </a:lnSpc>
              <a:buFont typeface="Arial"/>
              <a:buChar char="•"/>
            </a:pPr>
            <a:r>
              <a:rPr lang="en-US" sz="3598" spc="-251">
                <a:solidFill>
                  <a:srgbClr val="1E1E1E"/>
                </a:solidFill>
                <a:latin typeface="Glacial Indifference"/>
                <a:ea typeface="Glacial Indifference"/>
                <a:cs typeface="Glacial Indifference"/>
                <a:sym typeface="Glacial Indifference"/>
              </a:rPr>
              <a:t>Dapat Memahami Jenis Proyeksi Dalam Gambar Teknik  </a:t>
            </a:r>
          </a:p>
          <a:p>
            <a:pPr marL="776890" lvl="1" indent="-388445" algn="just">
              <a:lnSpc>
                <a:spcPts val="2878"/>
              </a:lnSpc>
              <a:buFont typeface="Arial"/>
              <a:buChar char="•"/>
            </a:pPr>
            <a:r>
              <a:rPr lang="en-US" sz="3598" spc="-251">
                <a:solidFill>
                  <a:srgbClr val="1E1E1E"/>
                </a:solidFill>
                <a:latin typeface="Glacial Indifference"/>
                <a:ea typeface="Glacial Indifference"/>
                <a:cs typeface="Glacial Indifference"/>
                <a:sym typeface="Glacial Indifference"/>
              </a:rPr>
              <a:t>Dapat Memahami Perbedaan Antara proyeksi amerika dan eropa </a:t>
            </a:r>
          </a:p>
          <a:p>
            <a:pPr algn="l">
              <a:lnSpc>
                <a:spcPts val="2878"/>
              </a:lnSpc>
            </a:pPr>
            <a:endParaRPr lang="en-US" sz="3598" spc="-251">
              <a:solidFill>
                <a:srgbClr val="1E1E1E"/>
              </a:solidFill>
              <a:latin typeface="Glacial Indifference"/>
              <a:ea typeface="Glacial Indifference"/>
              <a:cs typeface="Glacial Indifference"/>
              <a:sym typeface="Glacial Indifference"/>
            </a:endParaRPr>
          </a:p>
        </p:txBody>
      </p:sp>
      <p:sp>
        <p:nvSpPr>
          <p:cNvPr id="6" name="TextBox 6"/>
          <p:cNvSpPr txBox="1"/>
          <p:nvPr/>
        </p:nvSpPr>
        <p:spPr>
          <a:xfrm>
            <a:off x="958996" y="2365453"/>
            <a:ext cx="10905423" cy="681976"/>
          </a:xfrm>
          <a:prstGeom prst="rect">
            <a:avLst/>
          </a:prstGeom>
        </p:spPr>
        <p:txBody>
          <a:bodyPr lIns="0" tIns="0" rIns="0" bIns="0" rtlCol="0" anchor="t">
            <a:spAutoFit/>
          </a:bodyPr>
          <a:lstStyle/>
          <a:p>
            <a:pPr algn="l">
              <a:lnSpc>
                <a:spcPts val="4742"/>
              </a:lnSpc>
            </a:pPr>
            <a:r>
              <a:rPr lang="en-US" sz="5927" b="1" spc="-414">
                <a:solidFill>
                  <a:srgbClr val="1E1E1E"/>
                </a:solidFill>
                <a:latin typeface="Montserrat Ultra-Bold"/>
                <a:ea typeface="Montserrat Ultra-Bold"/>
                <a:cs typeface="Montserrat Ultra-Bold"/>
                <a:sym typeface="Montserrat Ultra-Bold"/>
              </a:rPr>
              <a:t>Tujuan  Pembelajaran</a:t>
            </a:r>
          </a:p>
        </p:txBody>
      </p:sp>
      <p:sp>
        <p:nvSpPr>
          <p:cNvPr id="7" name="TextBox 7"/>
          <p:cNvSpPr txBox="1"/>
          <p:nvPr/>
        </p:nvSpPr>
        <p:spPr>
          <a:xfrm>
            <a:off x="14889053" y="1066800"/>
            <a:ext cx="1768402" cy="202565"/>
          </a:xfrm>
          <a:prstGeom prst="rect">
            <a:avLst/>
          </a:prstGeom>
        </p:spPr>
        <p:txBody>
          <a:bodyPr lIns="0" tIns="0" rIns="0" bIns="0" rtlCol="0" anchor="t">
            <a:spAutoFit/>
          </a:bodyPr>
          <a:lstStyle/>
          <a:p>
            <a:pPr algn="r">
              <a:lnSpc>
                <a:spcPts val="1599"/>
              </a:lnSpc>
            </a:pPr>
            <a:r>
              <a:rPr lang="en-US" sz="1599" spc="-95">
                <a:solidFill>
                  <a:srgbClr val="1E1E1E"/>
                </a:solidFill>
                <a:latin typeface="Montserrat"/>
                <a:ea typeface="Montserrat"/>
                <a:cs typeface="Montserrat"/>
                <a:sym typeface="Montserrat"/>
              </a:rPr>
              <a:t>09 May, 2026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2F3"/>
        </a:solidFill>
        <a:effectLst/>
      </p:bgPr>
    </p:bg>
    <p:spTree>
      <p:nvGrpSpPr>
        <p:cNvPr id="1" name=""/>
        <p:cNvGrpSpPr/>
        <p:nvPr/>
      </p:nvGrpSpPr>
      <p:grpSpPr>
        <a:xfrm>
          <a:off x="0" y="0"/>
          <a:ext cx="0" cy="0"/>
          <a:chOff x="0" y="0"/>
          <a:chExt cx="0" cy="0"/>
        </a:xfrm>
      </p:grpSpPr>
      <p:sp>
        <p:nvSpPr>
          <p:cNvPr id="2" name="Freeform 2"/>
          <p:cNvSpPr/>
          <p:nvPr/>
        </p:nvSpPr>
        <p:spPr>
          <a:xfrm>
            <a:off x="-1838841" y="-3813461"/>
            <a:ext cx="13286611" cy="5862736"/>
          </a:xfrm>
          <a:custGeom>
            <a:avLst/>
            <a:gdLst/>
            <a:ahLst/>
            <a:cxnLst/>
            <a:rect l="l" t="t" r="r" b="b"/>
            <a:pathLst>
              <a:path w="13286611" h="5862736">
                <a:moveTo>
                  <a:pt x="0" y="0"/>
                </a:moveTo>
                <a:lnTo>
                  <a:pt x="13286610" y="0"/>
                </a:lnTo>
                <a:lnTo>
                  <a:pt x="13286610" y="5862736"/>
                </a:lnTo>
                <a:lnTo>
                  <a:pt x="0" y="5862736"/>
                </a:lnTo>
                <a:lnTo>
                  <a:pt x="0" y="0"/>
                </a:lnTo>
                <a:close/>
              </a:path>
            </a:pathLst>
          </a:custGeom>
          <a:blipFill>
            <a:blip r:embed="rId2">
              <a:alphaModFix amt="44999"/>
            </a:blip>
            <a:stretch>
              <a:fillRect l="-29839" t="-48022" b="-48022"/>
            </a:stretch>
          </a:blipFill>
        </p:spPr>
      </p:sp>
      <p:sp>
        <p:nvSpPr>
          <p:cNvPr id="3" name="Freeform 3"/>
          <p:cNvSpPr/>
          <p:nvPr/>
        </p:nvSpPr>
        <p:spPr>
          <a:xfrm>
            <a:off x="3866478" y="3868303"/>
            <a:ext cx="10411510" cy="7104466"/>
          </a:xfrm>
          <a:custGeom>
            <a:avLst/>
            <a:gdLst/>
            <a:ahLst/>
            <a:cxnLst/>
            <a:rect l="l" t="t" r="r" b="b"/>
            <a:pathLst>
              <a:path w="10411510" h="7104466">
                <a:moveTo>
                  <a:pt x="0" y="0"/>
                </a:moveTo>
                <a:lnTo>
                  <a:pt x="10411509" y="0"/>
                </a:lnTo>
                <a:lnTo>
                  <a:pt x="10411509" y="7104466"/>
                </a:lnTo>
                <a:lnTo>
                  <a:pt x="0" y="7104466"/>
                </a:lnTo>
                <a:lnTo>
                  <a:pt x="0" y="0"/>
                </a:lnTo>
                <a:close/>
              </a:path>
            </a:pathLst>
          </a:custGeom>
          <a:blipFill>
            <a:blip r:embed="rId3"/>
            <a:stretch>
              <a:fillRect l="-1591" r="-1591"/>
            </a:stretch>
          </a:blipFill>
        </p:spPr>
      </p:sp>
      <p:sp>
        <p:nvSpPr>
          <p:cNvPr id="4" name="TextBox 4"/>
          <p:cNvSpPr txBox="1"/>
          <p:nvPr/>
        </p:nvSpPr>
        <p:spPr>
          <a:xfrm>
            <a:off x="9139238" y="4652327"/>
            <a:ext cx="9525" cy="887095"/>
          </a:xfrm>
          <a:prstGeom prst="rect">
            <a:avLst/>
          </a:prstGeom>
        </p:spPr>
        <p:txBody>
          <a:bodyPr lIns="0" tIns="0" rIns="0" bIns="0" rtlCol="0" anchor="t">
            <a:spAutoFit/>
          </a:bodyPr>
          <a:lstStyle/>
          <a:p>
            <a:pPr algn="ctr">
              <a:lnSpc>
                <a:spcPts val="7279"/>
              </a:lnSpc>
            </a:pPr>
            <a:endParaRPr/>
          </a:p>
        </p:txBody>
      </p:sp>
      <p:sp>
        <p:nvSpPr>
          <p:cNvPr id="5" name="TextBox 5"/>
          <p:cNvSpPr txBox="1"/>
          <p:nvPr/>
        </p:nvSpPr>
        <p:spPr>
          <a:xfrm>
            <a:off x="885165" y="1715509"/>
            <a:ext cx="16374135" cy="2854004"/>
          </a:xfrm>
          <a:prstGeom prst="rect">
            <a:avLst/>
          </a:prstGeom>
        </p:spPr>
        <p:txBody>
          <a:bodyPr lIns="0" tIns="0" rIns="0" bIns="0" rtlCol="0" anchor="t">
            <a:spAutoFit/>
          </a:bodyPr>
          <a:lstStyle/>
          <a:p>
            <a:pPr algn="l">
              <a:lnSpc>
                <a:spcPts val="4553"/>
              </a:lnSpc>
            </a:pPr>
            <a:endParaRPr/>
          </a:p>
          <a:p>
            <a:pPr algn="l">
              <a:lnSpc>
                <a:spcPts val="4553"/>
              </a:lnSpc>
            </a:pPr>
            <a:r>
              <a:rPr lang="en-US" sz="3252">
                <a:solidFill>
                  <a:srgbClr val="000000"/>
                </a:solidFill>
                <a:latin typeface="Open Sans"/>
                <a:ea typeface="Open Sans"/>
                <a:cs typeface="Open Sans"/>
                <a:sym typeface="Open Sans"/>
              </a:rPr>
              <a:t>Gambar proyeksi  adalah sebuah gambaran objek yang nampak secara utuh dengan sudut pandang tertentu secara tegak lurus.</a:t>
            </a:r>
          </a:p>
          <a:p>
            <a:pPr algn="l">
              <a:lnSpc>
                <a:spcPts val="4553"/>
              </a:lnSpc>
            </a:pPr>
            <a:endParaRPr lang="en-US" sz="3252">
              <a:solidFill>
                <a:srgbClr val="000000"/>
              </a:solidFill>
              <a:latin typeface="Open Sans"/>
              <a:ea typeface="Open Sans"/>
              <a:cs typeface="Open Sans"/>
              <a:sym typeface="Open Sans"/>
            </a:endParaRPr>
          </a:p>
          <a:p>
            <a:pPr algn="l">
              <a:lnSpc>
                <a:spcPts val="4553"/>
              </a:lnSpc>
            </a:pPr>
            <a:endParaRPr lang="en-US" sz="3252">
              <a:solidFill>
                <a:srgbClr val="000000"/>
              </a:solidFill>
              <a:latin typeface="Open Sans"/>
              <a:ea typeface="Open Sans"/>
              <a:cs typeface="Open Sans"/>
              <a:sym typeface="Open Sans"/>
            </a:endParaRPr>
          </a:p>
        </p:txBody>
      </p:sp>
      <p:sp>
        <p:nvSpPr>
          <p:cNvPr id="6" name="TextBox 6"/>
          <p:cNvSpPr txBox="1"/>
          <p:nvPr/>
        </p:nvSpPr>
        <p:spPr>
          <a:xfrm>
            <a:off x="1028700" y="674383"/>
            <a:ext cx="6439733" cy="822934"/>
          </a:xfrm>
          <a:prstGeom prst="rect">
            <a:avLst/>
          </a:prstGeom>
        </p:spPr>
        <p:txBody>
          <a:bodyPr lIns="0" tIns="0" rIns="0" bIns="0" rtlCol="0" anchor="t">
            <a:spAutoFit/>
          </a:bodyPr>
          <a:lstStyle/>
          <a:p>
            <a:pPr algn="ctr">
              <a:lnSpc>
                <a:spcPts val="6151"/>
              </a:lnSpc>
              <a:spcBef>
                <a:spcPct val="0"/>
              </a:spcBef>
            </a:pPr>
            <a:r>
              <a:rPr lang="en-US" sz="6151" b="1" spc="-369">
                <a:solidFill>
                  <a:srgbClr val="000000"/>
                </a:solidFill>
                <a:latin typeface="Montserrat Bold"/>
                <a:ea typeface="Montserrat Bold"/>
                <a:cs typeface="Montserrat Bold"/>
                <a:sym typeface="Montserrat Bold"/>
              </a:rPr>
              <a:t>Gambar Proyeksi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2F3"/>
        </a:solidFill>
        <a:effectLst/>
      </p:bgPr>
    </p:bg>
    <p:spTree>
      <p:nvGrpSpPr>
        <p:cNvPr id="1" name=""/>
        <p:cNvGrpSpPr/>
        <p:nvPr/>
      </p:nvGrpSpPr>
      <p:grpSpPr>
        <a:xfrm>
          <a:off x="0" y="0"/>
          <a:ext cx="0" cy="0"/>
          <a:chOff x="0" y="0"/>
          <a:chExt cx="0" cy="0"/>
        </a:xfrm>
      </p:grpSpPr>
      <p:sp>
        <p:nvSpPr>
          <p:cNvPr id="2" name="TextBox 2"/>
          <p:cNvSpPr txBox="1"/>
          <p:nvPr/>
        </p:nvSpPr>
        <p:spPr>
          <a:xfrm>
            <a:off x="1446353" y="1972331"/>
            <a:ext cx="15395294" cy="5505736"/>
          </a:xfrm>
          <a:prstGeom prst="rect">
            <a:avLst/>
          </a:prstGeom>
        </p:spPr>
        <p:txBody>
          <a:bodyPr lIns="0" tIns="0" rIns="0" bIns="0" rtlCol="0" anchor="t">
            <a:spAutoFit/>
          </a:bodyPr>
          <a:lstStyle/>
          <a:p>
            <a:pPr algn="just">
              <a:lnSpc>
                <a:spcPts val="6270"/>
              </a:lnSpc>
            </a:pPr>
            <a:r>
              <a:rPr lang="en-US" sz="4479">
                <a:solidFill>
                  <a:srgbClr val="000000"/>
                </a:solidFill>
                <a:latin typeface="Open Sans"/>
                <a:ea typeface="Open Sans"/>
                <a:cs typeface="Open Sans"/>
                <a:sym typeface="Open Sans"/>
              </a:rPr>
              <a:t>Proyeksi Eropa merupakan salah satu metode dalam gambar teknik di mana objek ditempatkan di antara pengamat dan bidang proyeksi. Akibatnya, hasil gambar yang ditampilkan akan berada pada posisi yang berlawanan dengan arah pandang. Misalnya, tampak atas digambar di bawah tampak depan, dan tampak samping kanan digambar di sebelah kiri. </a:t>
            </a:r>
          </a:p>
        </p:txBody>
      </p:sp>
      <p:sp>
        <p:nvSpPr>
          <p:cNvPr id="3" name="Freeform 3"/>
          <p:cNvSpPr/>
          <p:nvPr/>
        </p:nvSpPr>
        <p:spPr>
          <a:xfrm>
            <a:off x="-1194239" y="-6267118"/>
            <a:ext cx="12344400" cy="8229600"/>
          </a:xfrm>
          <a:custGeom>
            <a:avLst/>
            <a:gdLst/>
            <a:ahLst/>
            <a:cxnLst/>
            <a:rect l="l" t="t" r="r" b="b"/>
            <a:pathLst>
              <a:path w="12344400" h="8229600">
                <a:moveTo>
                  <a:pt x="0" y="0"/>
                </a:moveTo>
                <a:lnTo>
                  <a:pt x="12344400" y="0"/>
                </a:lnTo>
                <a:lnTo>
                  <a:pt x="12344400" y="8229600"/>
                </a:lnTo>
                <a:lnTo>
                  <a:pt x="0" y="8229600"/>
                </a:lnTo>
                <a:lnTo>
                  <a:pt x="0" y="0"/>
                </a:lnTo>
                <a:close/>
              </a:path>
            </a:pathLst>
          </a:custGeom>
          <a:blipFill>
            <a:blip r:embed="rId2">
              <a:alphaModFix amt="51000"/>
            </a:blip>
            <a:stretch>
              <a:fillRect/>
            </a:stretch>
          </a:blipFill>
        </p:spPr>
      </p:sp>
      <p:sp>
        <p:nvSpPr>
          <p:cNvPr id="4" name="Freeform 4"/>
          <p:cNvSpPr/>
          <p:nvPr/>
        </p:nvSpPr>
        <p:spPr>
          <a:xfrm>
            <a:off x="15614564" y="8038776"/>
            <a:ext cx="1446353" cy="1446353"/>
          </a:xfrm>
          <a:custGeom>
            <a:avLst/>
            <a:gdLst/>
            <a:ahLst/>
            <a:cxnLst/>
            <a:rect l="l" t="t" r="r" b="b"/>
            <a:pathLst>
              <a:path w="1446353" h="1446353">
                <a:moveTo>
                  <a:pt x="0" y="0"/>
                </a:moveTo>
                <a:lnTo>
                  <a:pt x="1446353" y="0"/>
                </a:lnTo>
                <a:lnTo>
                  <a:pt x="1446353" y="1446353"/>
                </a:lnTo>
                <a:lnTo>
                  <a:pt x="0" y="144635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1446353" y="674353"/>
            <a:ext cx="8585478" cy="822994"/>
          </a:xfrm>
          <a:prstGeom prst="rect">
            <a:avLst/>
          </a:prstGeom>
        </p:spPr>
        <p:txBody>
          <a:bodyPr lIns="0" tIns="0" rIns="0" bIns="0" rtlCol="0" anchor="t">
            <a:spAutoFit/>
          </a:bodyPr>
          <a:lstStyle/>
          <a:p>
            <a:pPr algn="ctr">
              <a:lnSpc>
                <a:spcPts val="6151"/>
              </a:lnSpc>
              <a:spcBef>
                <a:spcPct val="0"/>
              </a:spcBef>
            </a:pPr>
            <a:r>
              <a:rPr lang="en-US" sz="6151" b="1" spc="-369">
                <a:solidFill>
                  <a:srgbClr val="000000"/>
                </a:solidFill>
                <a:latin typeface="Montserrat Bold"/>
                <a:ea typeface="Montserrat Bold"/>
                <a:cs typeface="Montserrat Bold"/>
                <a:sym typeface="Montserrat Bold"/>
              </a:rPr>
              <a:t>Gambar Proyeksi Eropa</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6F2"/>
        </a:solidFill>
        <a:effectLst/>
      </p:bgPr>
    </p:bg>
    <p:spTree>
      <p:nvGrpSpPr>
        <p:cNvPr id="1" name=""/>
        <p:cNvGrpSpPr/>
        <p:nvPr/>
      </p:nvGrpSpPr>
      <p:grpSpPr>
        <a:xfrm>
          <a:off x="0" y="0"/>
          <a:ext cx="0" cy="0"/>
          <a:chOff x="0" y="0"/>
          <a:chExt cx="0" cy="0"/>
        </a:xfrm>
      </p:grpSpPr>
      <p:sp>
        <p:nvSpPr>
          <p:cNvPr id="2" name="Freeform 2"/>
          <p:cNvSpPr/>
          <p:nvPr/>
        </p:nvSpPr>
        <p:spPr>
          <a:xfrm>
            <a:off x="1627601" y="4005754"/>
            <a:ext cx="7098015" cy="4261223"/>
          </a:xfrm>
          <a:custGeom>
            <a:avLst/>
            <a:gdLst/>
            <a:ahLst/>
            <a:cxnLst/>
            <a:rect l="l" t="t" r="r" b="b"/>
            <a:pathLst>
              <a:path w="7098015" h="4261223">
                <a:moveTo>
                  <a:pt x="0" y="0"/>
                </a:moveTo>
                <a:lnTo>
                  <a:pt x="7098014" y="0"/>
                </a:lnTo>
                <a:lnTo>
                  <a:pt x="7098014" y="4261223"/>
                </a:lnTo>
                <a:lnTo>
                  <a:pt x="0" y="4261223"/>
                </a:lnTo>
                <a:lnTo>
                  <a:pt x="0" y="0"/>
                </a:lnTo>
                <a:close/>
              </a:path>
            </a:pathLst>
          </a:custGeom>
          <a:blipFill>
            <a:blip r:embed="rId2"/>
            <a:stretch>
              <a:fillRect/>
            </a:stretch>
          </a:blipFill>
        </p:spPr>
      </p:sp>
      <p:sp>
        <p:nvSpPr>
          <p:cNvPr id="3" name="Freeform 3"/>
          <p:cNvSpPr/>
          <p:nvPr/>
        </p:nvSpPr>
        <p:spPr>
          <a:xfrm>
            <a:off x="8768242" y="5588416"/>
            <a:ext cx="6834696" cy="4114885"/>
          </a:xfrm>
          <a:custGeom>
            <a:avLst/>
            <a:gdLst/>
            <a:ahLst/>
            <a:cxnLst/>
            <a:rect l="l" t="t" r="r" b="b"/>
            <a:pathLst>
              <a:path w="6834696" h="4114885">
                <a:moveTo>
                  <a:pt x="0" y="0"/>
                </a:moveTo>
                <a:lnTo>
                  <a:pt x="6834696" y="0"/>
                </a:lnTo>
                <a:lnTo>
                  <a:pt x="6834696" y="4114885"/>
                </a:lnTo>
                <a:lnTo>
                  <a:pt x="0" y="4114885"/>
                </a:lnTo>
                <a:lnTo>
                  <a:pt x="0" y="0"/>
                </a:lnTo>
                <a:close/>
              </a:path>
            </a:pathLst>
          </a:custGeom>
          <a:blipFill>
            <a:blip r:embed="rId3"/>
            <a:stretch>
              <a:fillRect/>
            </a:stretch>
          </a:blipFill>
        </p:spPr>
      </p:sp>
      <p:sp>
        <p:nvSpPr>
          <p:cNvPr id="4" name="Freeform 4"/>
          <p:cNvSpPr/>
          <p:nvPr/>
        </p:nvSpPr>
        <p:spPr>
          <a:xfrm>
            <a:off x="8880740" y="1890542"/>
            <a:ext cx="6340647" cy="3780001"/>
          </a:xfrm>
          <a:custGeom>
            <a:avLst/>
            <a:gdLst/>
            <a:ahLst/>
            <a:cxnLst/>
            <a:rect l="l" t="t" r="r" b="b"/>
            <a:pathLst>
              <a:path w="6340647" h="3780001">
                <a:moveTo>
                  <a:pt x="0" y="0"/>
                </a:moveTo>
                <a:lnTo>
                  <a:pt x="6340647" y="0"/>
                </a:lnTo>
                <a:lnTo>
                  <a:pt x="6340647" y="3780001"/>
                </a:lnTo>
                <a:lnTo>
                  <a:pt x="0" y="3780001"/>
                </a:lnTo>
                <a:lnTo>
                  <a:pt x="0" y="0"/>
                </a:lnTo>
                <a:close/>
              </a:path>
            </a:pathLst>
          </a:custGeom>
          <a:blipFill>
            <a:blip r:embed="rId4"/>
            <a:stretch>
              <a:fillRect/>
            </a:stretch>
          </a:blipFill>
        </p:spPr>
      </p:sp>
      <p:sp>
        <p:nvSpPr>
          <p:cNvPr id="5" name="TextBox 5"/>
          <p:cNvSpPr txBox="1"/>
          <p:nvPr/>
        </p:nvSpPr>
        <p:spPr>
          <a:xfrm>
            <a:off x="1627601" y="2081611"/>
            <a:ext cx="9554715" cy="1548591"/>
          </a:xfrm>
          <a:prstGeom prst="rect">
            <a:avLst/>
          </a:prstGeom>
        </p:spPr>
        <p:txBody>
          <a:bodyPr lIns="0" tIns="0" rIns="0" bIns="0" rtlCol="0" anchor="t">
            <a:spAutoFit/>
          </a:bodyPr>
          <a:lstStyle/>
          <a:p>
            <a:pPr algn="l">
              <a:lnSpc>
                <a:spcPts val="6151"/>
              </a:lnSpc>
            </a:pPr>
            <a:r>
              <a:rPr lang="en-US" sz="6151" b="1" spc="-369">
                <a:solidFill>
                  <a:srgbClr val="000000"/>
                </a:solidFill>
                <a:latin typeface="Montserrat Bold"/>
                <a:ea typeface="Montserrat Bold"/>
                <a:cs typeface="Montserrat Bold"/>
                <a:sym typeface="Montserrat Bold"/>
              </a:rPr>
              <a:t>Pandagan Proyeksi</a:t>
            </a:r>
          </a:p>
          <a:p>
            <a:pPr algn="l">
              <a:lnSpc>
                <a:spcPts val="6151"/>
              </a:lnSpc>
              <a:spcBef>
                <a:spcPct val="0"/>
              </a:spcBef>
            </a:pPr>
            <a:r>
              <a:rPr lang="en-US" sz="6151" b="1" spc="-369">
                <a:solidFill>
                  <a:srgbClr val="000000"/>
                </a:solidFill>
                <a:latin typeface="Montserrat Bold"/>
                <a:ea typeface="Montserrat Bold"/>
                <a:cs typeface="Montserrat Bold"/>
                <a:sym typeface="Montserrat Bold"/>
              </a:rPr>
              <a:t>Eropa</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6F2"/>
        </a:solidFill>
        <a:effectLst/>
      </p:bgPr>
    </p:bg>
    <p:spTree>
      <p:nvGrpSpPr>
        <p:cNvPr id="1" name=""/>
        <p:cNvGrpSpPr/>
        <p:nvPr/>
      </p:nvGrpSpPr>
      <p:grpSpPr>
        <a:xfrm>
          <a:off x="0" y="0"/>
          <a:ext cx="0" cy="0"/>
          <a:chOff x="0" y="0"/>
          <a:chExt cx="0" cy="0"/>
        </a:xfrm>
      </p:grpSpPr>
      <p:sp>
        <p:nvSpPr>
          <p:cNvPr id="2" name="Freeform 2"/>
          <p:cNvSpPr/>
          <p:nvPr/>
        </p:nvSpPr>
        <p:spPr>
          <a:xfrm>
            <a:off x="385996" y="675461"/>
            <a:ext cx="5039406" cy="5590934"/>
          </a:xfrm>
          <a:custGeom>
            <a:avLst/>
            <a:gdLst/>
            <a:ahLst/>
            <a:cxnLst/>
            <a:rect l="l" t="t" r="r" b="b"/>
            <a:pathLst>
              <a:path w="5039406" h="5590934">
                <a:moveTo>
                  <a:pt x="0" y="0"/>
                </a:moveTo>
                <a:lnTo>
                  <a:pt x="5039406" y="0"/>
                </a:lnTo>
                <a:lnTo>
                  <a:pt x="5039406" y="5590934"/>
                </a:lnTo>
                <a:lnTo>
                  <a:pt x="0" y="5590934"/>
                </a:lnTo>
                <a:lnTo>
                  <a:pt x="0" y="0"/>
                </a:lnTo>
                <a:close/>
              </a:path>
            </a:pathLst>
          </a:custGeom>
          <a:blipFill>
            <a:blip r:embed="rId2"/>
            <a:stretch>
              <a:fillRect l="-8847" t="-29360" r="-254880" b="-140234"/>
            </a:stretch>
          </a:blipFill>
        </p:spPr>
      </p:sp>
      <p:sp>
        <p:nvSpPr>
          <p:cNvPr id="3" name="Freeform 3"/>
          <p:cNvSpPr/>
          <p:nvPr/>
        </p:nvSpPr>
        <p:spPr>
          <a:xfrm>
            <a:off x="5889134" y="281522"/>
            <a:ext cx="4514673" cy="4919783"/>
          </a:xfrm>
          <a:custGeom>
            <a:avLst/>
            <a:gdLst/>
            <a:ahLst/>
            <a:cxnLst/>
            <a:rect l="l" t="t" r="r" b="b"/>
            <a:pathLst>
              <a:path w="4514673" h="4919783">
                <a:moveTo>
                  <a:pt x="0" y="0"/>
                </a:moveTo>
                <a:lnTo>
                  <a:pt x="4514672" y="0"/>
                </a:lnTo>
                <a:lnTo>
                  <a:pt x="4514672" y="4919783"/>
                </a:lnTo>
                <a:lnTo>
                  <a:pt x="0" y="4919783"/>
                </a:lnTo>
                <a:lnTo>
                  <a:pt x="0" y="0"/>
                </a:lnTo>
                <a:close/>
              </a:path>
            </a:pathLst>
          </a:custGeom>
          <a:blipFill>
            <a:blip r:embed="rId3"/>
            <a:stretch>
              <a:fillRect l="-118175" t="-141258" r="-242682" b="-106508"/>
            </a:stretch>
          </a:blipFill>
        </p:spPr>
      </p:sp>
      <p:sp>
        <p:nvSpPr>
          <p:cNvPr id="4" name="Freeform 4"/>
          <p:cNvSpPr/>
          <p:nvPr/>
        </p:nvSpPr>
        <p:spPr>
          <a:xfrm>
            <a:off x="10403806" y="76769"/>
            <a:ext cx="4707781" cy="5707660"/>
          </a:xfrm>
          <a:custGeom>
            <a:avLst/>
            <a:gdLst/>
            <a:ahLst/>
            <a:cxnLst/>
            <a:rect l="l" t="t" r="r" b="b"/>
            <a:pathLst>
              <a:path w="4707781" h="5707660">
                <a:moveTo>
                  <a:pt x="0" y="0"/>
                </a:moveTo>
                <a:lnTo>
                  <a:pt x="4707782" y="0"/>
                </a:lnTo>
                <a:lnTo>
                  <a:pt x="4707782" y="5707660"/>
                </a:lnTo>
                <a:lnTo>
                  <a:pt x="0" y="5707660"/>
                </a:lnTo>
                <a:lnTo>
                  <a:pt x="0" y="0"/>
                </a:lnTo>
                <a:close/>
              </a:path>
            </a:pathLst>
          </a:custGeom>
          <a:blipFill>
            <a:blip r:embed="rId3"/>
            <a:stretch>
              <a:fillRect l="-219861" t="-115067" r="-119861" b="-83180"/>
            </a:stretch>
          </a:blipFill>
        </p:spPr>
      </p:sp>
      <p:sp>
        <p:nvSpPr>
          <p:cNvPr id="5" name="Freeform 5"/>
          <p:cNvSpPr/>
          <p:nvPr/>
        </p:nvSpPr>
        <p:spPr>
          <a:xfrm>
            <a:off x="6172310" y="5441706"/>
            <a:ext cx="3948321" cy="4475680"/>
          </a:xfrm>
          <a:custGeom>
            <a:avLst/>
            <a:gdLst/>
            <a:ahLst/>
            <a:cxnLst/>
            <a:rect l="l" t="t" r="r" b="b"/>
            <a:pathLst>
              <a:path w="3948321" h="4475680">
                <a:moveTo>
                  <a:pt x="0" y="0"/>
                </a:moveTo>
                <a:lnTo>
                  <a:pt x="3948321" y="0"/>
                </a:lnTo>
                <a:lnTo>
                  <a:pt x="3948321" y="4475681"/>
                </a:lnTo>
                <a:lnTo>
                  <a:pt x="0" y="4475681"/>
                </a:lnTo>
                <a:lnTo>
                  <a:pt x="0" y="0"/>
                </a:lnTo>
                <a:close/>
              </a:path>
            </a:pathLst>
          </a:custGeom>
          <a:blipFill>
            <a:blip r:embed="rId3"/>
            <a:stretch>
              <a:fillRect l="-132718" t="-266303" r="-272229"/>
            </a:stretch>
          </a:blipFill>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6F2"/>
        </a:solidFill>
        <a:effectLst/>
      </p:bgPr>
    </p:bg>
    <p:spTree>
      <p:nvGrpSpPr>
        <p:cNvPr id="1" name=""/>
        <p:cNvGrpSpPr/>
        <p:nvPr/>
      </p:nvGrpSpPr>
      <p:grpSpPr>
        <a:xfrm>
          <a:off x="0" y="0"/>
          <a:ext cx="0" cy="0"/>
          <a:chOff x="0" y="0"/>
          <a:chExt cx="0" cy="0"/>
        </a:xfrm>
      </p:grpSpPr>
      <p:sp>
        <p:nvSpPr>
          <p:cNvPr id="2" name="Freeform 2"/>
          <p:cNvSpPr/>
          <p:nvPr/>
        </p:nvSpPr>
        <p:spPr>
          <a:xfrm>
            <a:off x="-563324" y="-6267118"/>
            <a:ext cx="12344400" cy="8229600"/>
          </a:xfrm>
          <a:custGeom>
            <a:avLst/>
            <a:gdLst/>
            <a:ahLst/>
            <a:cxnLst/>
            <a:rect l="l" t="t" r="r" b="b"/>
            <a:pathLst>
              <a:path w="12344400" h="8229600">
                <a:moveTo>
                  <a:pt x="0" y="0"/>
                </a:moveTo>
                <a:lnTo>
                  <a:pt x="12344400" y="0"/>
                </a:lnTo>
                <a:lnTo>
                  <a:pt x="12344400" y="8229600"/>
                </a:lnTo>
                <a:lnTo>
                  <a:pt x="0" y="8229600"/>
                </a:lnTo>
                <a:lnTo>
                  <a:pt x="0" y="0"/>
                </a:lnTo>
                <a:close/>
              </a:path>
            </a:pathLst>
          </a:custGeom>
          <a:blipFill>
            <a:blip r:embed="rId2">
              <a:alphaModFix amt="41000"/>
            </a:blip>
            <a:stretch>
              <a:fillRect/>
            </a:stretch>
          </a:blipFill>
        </p:spPr>
      </p:sp>
      <p:sp>
        <p:nvSpPr>
          <p:cNvPr id="3" name="TextBox 3"/>
          <p:cNvSpPr txBox="1"/>
          <p:nvPr/>
        </p:nvSpPr>
        <p:spPr>
          <a:xfrm>
            <a:off x="1446353" y="1876757"/>
            <a:ext cx="15395294" cy="5505736"/>
          </a:xfrm>
          <a:prstGeom prst="rect">
            <a:avLst/>
          </a:prstGeom>
        </p:spPr>
        <p:txBody>
          <a:bodyPr lIns="0" tIns="0" rIns="0" bIns="0" rtlCol="0" anchor="t">
            <a:spAutoFit/>
          </a:bodyPr>
          <a:lstStyle/>
          <a:p>
            <a:pPr algn="just">
              <a:lnSpc>
                <a:spcPts val="6270"/>
              </a:lnSpc>
            </a:pPr>
            <a:r>
              <a:rPr lang="en-US" sz="4479">
                <a:solidFill>
                  <a:srgbClr val="000000"/>
                </a:solidFill>
                <a:latin typeface="Open Sans"/>
                <a:ea typeface="Open Sans"/>
                <a:cs typeface="Open Sans"/>
                <a:sym typeface="Open Sans"/>
              </a:rPr>
              <a:t>Proyeksi Amerika adalah metode dasar gambar teknik untuk menggambarkan benda ke dalam bentuk dua dimensi, di mana bidang proyeksi berada di antara pengamat dan objek. Pada metode ini, hasil gambar ditampilkan sesuai dengan arah pandang, sehingga lebih mudah dipahami karena posisinya sesuai dengan apa yang dilihat.</a:t>
            </a:r>
          </a:p>
        </p:txBody>
      </p:sp>
      <p:sp>
        <p:nvSpPr>
          <p:cNvPr id="4" name="TextBox 4"/>
          <p:cNvSpPr txBox="1"/>
          <p:nvPr/>
        </p:nvSpPr>
        <p:spPr>
          <a:xfrm>
            <a:off x="1446353" y="674353"/>
            <a:ext cx="9586198" cy="822994"/>
          </a:xfrm>
          <a:prstGeom prst="rect">
            <a:avLst/>
          </a:prstGeom>
        </p:spPr>
        <p:txBody>
          <a:bodyPr lIns="0" tIns="0" rIns="0" bIns="0" rtlCol="0" anchor="t">
            <a:spAutoFit/>
          </a:bodyPr>
          <a:lstStyle/>
          <a:p>
            <a:pPr algn="ctr">
              <a:lnSpc>
                <a:spcPts val="6151"/>
              </a:lnSpc>
              <a:spcBef>
                <a:spcPct val="0"/>
              </a:spcBef>
            </a:pPr>
            <a:r>
              <a:rPr lang="en-US" sz="6151" b="1" spc="-369">
                <a:solidFill>
                  <a:srgbClr val="000000"/>
                </a:solidFill>
                <a:latin typeface="Montserrat Bold"/>
                <a:ea typeface="Montserrat Bold"/>
                <a:cs typeface="Montserrat Bold"/>
                <a:sym typeface="Montserrat Bold"/>
              </a:rPr>
              <a:t>Gambar Proyeksi Amerika</a:t>
            </a:r>
          </a:p>
        </p:txBody>
      </p:sp>
      <p:sp>
        <p:nvSpPr>
          <p:cNvPr id="5" name="Freeform 5"/>
          <p:cNvSpPr/>
          <p:nvPr/>
        </p:nvSpPr>
        <p:spPr>
          <a:xfrm>
            <a:off x="15614564" y="8038776"/>
            <a:ext cx="1446353" cy="1446353"/>
          </a:xfrm>
          <a:custGeom>
            <a:avLst/>
            <a:gdLst/>
            <a:ahLst/>
            <a:cxnLst/>
            <a:rect l="l" t="t" r="r" b="b"/>
            <a:pathLst>
              <a:path w="1446353" h="1446353">
                <a:moveTo>
                  <a:pt x="0" y="0"/>
                </a:moveTo>
                <a:lnTo>
                  <a:pt x="1446353" y="0"/>
                </a:lnTo>
                <a:lnTo>
                  <a:pt x="1446353" y="1446353"/>
                </a:lnTo>
                <a:lnTo>
                  <a:pt x="0" y="1446353"/>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6F2"/>
        </a:solidFill>
        <a:effectLst/>
      </p:bgPr>
    </p:bg>
    <p:spTree>
      <p:nvGrpSpPr>
        <p:cNvPr id="1" name=""/>
        <p:cNvGrpSpPr/>
        <p:nvPr/>
      </p:nvGrpSpPr>
      <p:grpSpPr>
        <a:xfrm>
          <a:off x="0" y="0"/>
          <a:ext cx="0" cy="0"/>
          <a:chOff x="0" y="0"/>
          <a:chExt cx="0" cy="0"/>
        </a:xfrm>
      </p:grpSpPr>
      <p:sp>
        <p:nvSpPr>
          <p:cNvPr id="2" name="Freeform 2"/>
          <p:cNvSpPr/>
          <p:nvPr/>
        </p:nvSpPr>
        <p:spPr>
          <a:xfrm>
            <a:off x="549559" y="3749148"/>
            <a:ext cx="8576416" cy="5041542"/>
          </a:xfrm>
          <a:custGeom>
            <a:avLst/>
            <a:gdLst/>
            <a:ahLst/>
            <a:cxnLst/>
            <a:rect l="l" t="t" r="r" b="b"/>
            <a:pathLst>
              <a:path w="8576416" h="5041542">
                <a:moveTo>
                  <a:pt x="0" y="0"/>
                </a:moveTo>
                <a:lnTo>
                  <a:pt x="8576415" y="0"/>
                </a:lnTo>
                <a:lnTo>
                  <a:pt x="8576415" y="5041541"/>
                </a:lnTo>
                <a:lnTo>
                  <a:pt x="0" y="5041541"/>
                </a:lnTo>
                <a:lnTo>
                  <a:pt x="0" y="0"/>
                </a:lnTo>
                <a:close/>
              </a:path>
            </a:pathLst>
          </a:custGeom>
          <a:blipFill>
            <a:blip r:embed="rId2"/>
            <a:stretch>
              <a:fillRect/>
            </a:stretch>
          </a:blipFill>
        </p:spPr>
      </p:sp>
      <p:sp>
        <p:nvSpPr>
          <p:cNvPr id="3" name="Freeform 3"/>
          <p:cNvSpPr/>
          <p:nvPr/>
        </p:nvSpPr>
        <p:spPr>
          <a:xfrm>
            <a:off x="8879089" y="607398"/>
            <a:ext cx="7997326" cy="4432907"/>
          </a:xfrm>
          <a:custGeom>
            <a:avLst/>
            <a:gdLst/>
            <a:ahLst/>
            <a:cxnLst/>
            <a:rect l="l" t="t" r="r" b="b"/>
            <a:pathLst>
              <a:path w="7997326" h="4432907">
                <a:moveTo>
                  <a:pt x="0" y="0"/>
                </a:moveTo>
                <a:lnTo>
                  <a:pt x="7997326" y="0"/>
                </a:lnTo>
                <a:lnTo>
                  <a:pt x="7997326" y="4432907"/>
                </a:lnTo>
                <a:lnTo>
                  <a:pt x="0" y="4432907"/>
                </a:lnTo>
                <a:lnTo>
                  <a:pt x="0" y="0"/>
                </a:lnTo>
                <a:close/>
              </a:path>
            </a:pathLst>
          </a:custGeom>
          <a:blipFill>
            <a:blip r:embed="rId3"/>
            <a:stretch>
              <a:fillRect/>
            </a:stretch>
          </a:blipFill>
        </p:spPr>
      </p:sp>
      <p:sp>
        <p:nvSpPr>
          <p:cNvPr id="4" name="Freeform 4"/>
          <p:cNvSpPr/>
          <p:nvPr/>
        </p:nvSpPr>
        <p:spPr>
          <a:xfrm>
            <a:off x="9261326" y="5143500"/>
            <a:ext cx="8115300" cy="4956990"/>
          </a:xfrm>
          <a:custGeom>
            <a:avLst/>
            <a:gdLst/>
            <a:ahLst/>
            <a:cxnLst/>
            <a:rect l="l" t="t" r="r" b="b"/>
            <a:pathLst>
              <a:path w="8115300" h="4956990">
                <a:moveTo>
                  <a:pt x="0" y="0"/>
                </a:moveTo>
                <a:lnTo>
                  <a:pt x="8115300" y="0"/>
                </a:lnTo>
                <a:lnTo>
                  <a:pt x="8115300" y="4956990"/>
                </a:lnTo>
                <a:lnTo>
                  <a:pt x="0" y="4956990"/>
                </a:lnTo>
                <a:lnTo>
                  <a:pt x="0" y="0"/>
                </a:lnTo>
                <a:close/>
              </a:path>
            </a:pathLst>
          </a:custGeom>
          <a:blipFill>
            <a:blip r:embed="rId4"/>
            <a:stretch>
              <a:fillRect/>
            </a:stretch>
          </a:blipFill>
        </p:spPr>
      </p:sp>
      <p:sp>
        <p:nvSpPr>
          <p:cNvPr id="5" name="TextBox 5"/>
          <p:cNvSpPr txBox="1"/>
          <p:nvPr/>
        </p:nvSpPr>
        <p:spPr>
          <a:xfrm>
            <a:off x="1146026" y="1891224"/>
            <a:ext cx="7383480" cy="1548591"/>
          </a:xfrm>
          <a:prstGeom prst="rect">
            <a:avLst/>
          </a:prstGeom>
        </p:spPr>
        <p:txBody>
          <a:bodyPr lIns="0" tIns="0" rIns="0" bIns="0" rtlCol="0" anchor="t">
            <a:spAutoFit/>
          </a:bodyPr>
          <a:lstStyle/>
          <a:p>
            <a:pPr algn="l">
              <a:lnSpc>
                <a:spcPts val="6151"/>
              </a:lnSpc>
            </a:pPr>
            <a:r>
              <a:rPr lang="en-US" sz="6151" b="1" spc="-369">
                <a:solidFill>
                  <a:srgbClr val="000000"/>
                </a:solidFill>
                <a:latin typeface="Montserrat Bold"/>
                <a:ea typeface="Montserrat Bold"/>
                <a:cs typeface="Montserrat Bold"/>
                <a:sym typeface="Montserrat Bold"/>
              </a:rPr>
              <a:t>Pandagan Proyeksi</a:t>
            </a:r>
          </a:p>
          <a:p>
            <a:pPr algn="l">
              <a:lnSpc>
                <a:spcPts val="6151"/>
              </a:lnSpc>
              <a:spcBef>
                <a:spcPct val="0"/>
              </a:spcBef>
            </a:pPr>
            <a:r>
              <a:rPr lang="en-US" sz="6151" b="1" spc="-369">
                <a:solidFill>
                  <a:srgbClr val="000000"/>
                </a:solidFill>
                <a:latin typeface="Montserrat Bold"/>
                <a:ea typeface="Montserrat Bold"/>
                <a:cs typeface="Montserrat Bold"/>
                <a:sym typeface="Montserrat Bold"/>
              </a:rPr>
              <a:t>Amerika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6F2"/>
        </a:solidFill>
        <a:effectLst/>
      </p:bgPr>
    </p:bg>
    <p:spTree>
      <p:nvGrpSpPr>
        <p:cNvPr id="1" name=""/>
        <p:cNvGrpSpPr/>
        <p:nvPr/>
      </p:nvGrpSpPr>
      <p:grpSpPr>
        <a:xfrm>
          <a:off x="0" y="0"/>
          <a:ext cx="0" cy="0"/>
          <a:chOff x="0" y="0"/>
          <a:chExt cx="0" cy="0"/>
        </a:xfrm>
      </p:grpSpPr>
      <p:sp>
        <p:nvSpPr>
          <p:cNvPr id="2" name="TextBox 2"/>
          <p:cNvSpPr txBox="1"/>
          <p:nvPr/>
        </p:nvSpPr>
        <p:spPr>
          <a:xfrm>
            <a:off x="865054" y="724566"/>
            <a:ext cx="10408995" cy="887095"/>
          </a:xfrm>
          <a:prstGeom prst="rect">
            <a:avLst/>
          </a:prstGeom>
        </p:spPr>
        <p:txBody>
          <a:bodyPr lIns="0" tIns="0" rIns="0" bIns="0" rtlCol="0" anchor="t">
            <a:spAutoFit/>
          </a:bodyPr>
          <a:lstStyle/>
          <a:p>
            <a:pPr algn="ctr">
              <a:lnSpc>
                <a:spcPts val="7279"/>
              </a:lnSpc>
            </a:pPr>
            <a:r>
              <a:rPr lang="en-US" sz="5199" b="1">
                <a:solidFill>
                  <a:srgbClr val="000000"/>
                </a:solidFill>
                <a:latin typeface="Open Sans Bold"/>
                <a:ea typeface="Open Sans Bold"/>
                <a:cs typeface="Open Sans Bold"/>
                <a:sym typeface="Open Sans Bold"/>
              </a:rPr>
              <a:t>Menentukan Pandagan Depan </a:t>
            </a:r>
          </a:p>
        </p:txBody>
      </p:sp>
      <p:sp>
        <p:nvSpPr>
          <p:cNvPr id="3" name="TextBox 3"/>
          <p:cNvSpPr txBox="1"/>
          <p:nvPr/>
        </p:nvSpPr>
        <p:spPr>
          <a:xfrm>
            <a:off x="1429716" y="1853751"/>
            <a:ext cx="14200634" cy="7404549"/>
          </a:xfrm>
          <a:prstGeom prst="rect">
            <a:avLst/>
          </a:prstGeom>
        </p:spPr>
        <p:txBody>
          <a:bodyPr lIns="0" tIns="0" rIns="0" bIns="0" rtlCol="0" anchor="t">
            <a:spAutoFit/>
          </a:bodyPr>
          <a:lstStyle/>
          <a:p>
            <a:pPr algn="l">
              <a:lnSpc>
                <a:spcPts val="4527"/>
              </a:lnSpc>
            </a:pPr>
            <a:r>
              <a:rPr lang="en-US" sz="3233">
                <a:solidFill>
                  <a:srgbClr val="000000"/>
                </a:solidFill>
                <a:latin typeface="Open Sans"/>
                <a:ea typeface="Open Sans"/>
                <a:cs typeface="Open Sans"/>
                <a:sym typeface="Open Sans"/>
              </a:rPr>
              <a:t>Cara memilih pandangan depan dalam gambar teknik:</a:t>
            </a:r>
          </a:p>
          <a:p>
            <a:pPr algn="l">
              <a:lnSpc>
                <a:spcPts val="4527"/>
              </a:lnSpc>
            </a:pPr>
            <a:r>
              <a:rPr lang="en-US" sz="3233">
                <a:solidFill>
                  <a:srgbClr val="000000"/>
                </a:solidFill>
                <a:latin typeface="Open Sans"/>
                <a:ea typeface="Open Sans"/>
                <a:cs typeface="Open Sans"/>
                <a:sym typeface="Open Sans"/>
              </a:rPr>
              <a:t>1. Pilih sisi yang paling mewakili bentuk benda</a:t>
            </a:r>
          </a:p>
          <a:p>
            <a:pPr marL="698212" lvl="1" indent="-349106" algn="l">
              <a:lnSpc>
                <a:spcPts val="4527"/>
              </a:lnSpc>
              <a:buFont typeface="Arial"/>
              <a:buChar char="•"/>
            </a:pPr>
            <a:r>
              <a:rPr lang="en-US" sz="3233">
                <a:solidFill>
                  <a:srgbClr val="000000"/>
                </a:solidFill>
                <a:latin typeface="Open Sans"/>
                <a:ea typeface="Open Sans"/>
                <a:cs typeface="Open Sans"/>
                <a:sym typeface="Open Sans"/>
              </a:rPr>
              <a:t>Ambil sisi yang menunjukkan bentuk paling lengkap dan jelas.</a:t>
            </a:r>
          </a:p>
          <a:p>
            <a:pPr marL="698212" lvl="1" indent="-349106" algn="l">
              <a:lnSpc>
                <a:spcPts val="4527"/>
              </a:lnSpc>
              <a:buFont typeface="Arial"/>
              <a:buChar char="•"/>
            </a:pPr>
            <a:r>
              <a:rPr lang="en-US" sz="3233">
                <a:solidFill>
                  <a:srgbClr val="000000"/>
                </a:solidFill>
                <a:latin typeface="Open Sans"/>
                <a:ea typeface="Open Sans"/>
                <a:cs typeface="Open Sans"/>
                <a:sym typeface="Open Sans"/>
              </a:rPr>
              <a:t>Hindari sisi yang terlalu banyak garis tersembunyi (garis putus-putus).</a:t>
            </a:r>
          </a:p>
          <a:p>
            <a:pPr algn="l">
              <a:lnSpc>
                <a:spcPts val="4527"/>
              </a:lnSpc>
            </a:pPr>
            <a:r>
              <a:rPr lang="en-US" sz="3233">
                <a:solidFill>
                  <a:srgbClr val="000000"/>
                </a:solidFill>
                <a:latin typeface="Open Sans"/>
                <a:ea typeface="Open Sans"/>
                <a:cs typeface="Open Sans"/>
                <a:sym typeface="Open Sans"/>
              </a:rPr>
              <a:t>2. Menampilkan detail utama</a:t>
            </a:r>
          </a:p>
          <a:p>
            <a:pPr marL="698212" lvl="1" indent="-349106" algn="l">
              <a:lnSpc>
                <a:spcPts val="4527"/>
              </a:lnSpc>
              <a:buFont typeface="Arial"/>
              <a:buChar char="•"/>
            </a:pPr>
            <a:r>
              <a:rPr lang="en-US" sz="3233">
                <a:solidFill>
                  <a:srgbClr val="000000"/>
                </a:solidFill>
                <a:latin typeface="Open Sans"/>
                <a:ea typeface="Open Sans"/>
                <a:cs typeface="Open Sans"/>
                <a:sym typeface="Open Sans"/>
              </a:rPr>
              <a:t>Pilih sisi yang memperlihatkan fitur penting (lubang, alur, tinggi).</a:t>
            </a:r>
          </a:p>
          <a:p>
            <a:pPr marL="698212" lvl="1" indent="-349106" algn="l">
              <a:lnSpc>
                <a:spcPts val="4527"/>
              </a:lnSpc>
              <a:buFont typeface="Arial"/>
              <a:buChar char="•"/>
            </a:pPr>
            <a:r>
              <a:rPr lang="en-US" sz="3233">
                <a:solidFill>
                  <a:srgbClr val="000000"/>
                </a:solidFill>
                <a:latin typeface="Open Sans"/>
                <a:ea typeface="Open Sans"/>
                <a:cs typeface="Open Sans"/>
                <a:sym typeface="Open Sans"/>
              </a:rPr>
              <a:t>Tujuannya agar mudah dipahami tanpa banyak pandangan tambahan.</a:t>
            </a:r>
          </a:p>
          <a:p>
            <a:pPr algn="l">
              <a:lnSpc>
                <a:spcPts val="4527"/>
              </a:lnSpc>
            </a:pPr>
            <a:r>
              <a:rPr lang="en-US" sz="3233">
                <a:solidFill>
                  <a:srgbClr val="000000"/>
                </a:solidFill>
                <a:latin typeface="Open Sans"/>
                <a:ea typeface="Open Sans"/>
                <a:cs typeface="Open Sans"/>
                <a:sym typeface="Open Sans"/>
              </a:rPr>
              <a:t>3. Posisi benda saat digunakan</a:t>
            </a:r>
          </a:p>
          <a:p>
            <a:pPr marL="698212" lvl="1" indent="-349106" algn="l">
              <a:lnSpc>
                <a:spcPts val="4527"/>
              </a:lnSpc>
              <a:buFont typeface="Arial"/>
              <a:buChar char="•"/>
            </a:pPr>
            <a:r>
              <a:rPr lang="en-US" sz="3233">
                <a:solidFill>
                  <a:srgbClr val="000000"/>
                </a:solidFill>
                <a:latin typeface="Open Sans"/>
                <a:ea typeface="Open Sans"/>
                <a:cs typeface="Open Sans"/>
                <a:sym typeface="Open Sans"/>
              </a:rPr>
              <a:t>Usahakan sesuai posisi kerja/nyata benda.</a:t>
            </a:r>
          </a:p>
          <a:p>
            <a:pPr marL="698212" lvl="1" indent="-349106" algn="l">
              <a:lnSpc>
                <a:spcPts val="4527"/>
              </a:lnSpc>
              <a:buFont typeface="Arial"/>
              <a:buChar char="•"/>
            </a:pPr>
            <a:r>
              <a:rPr lang="en-US" sz="3233">
                <a:solidFill>
                  <a:srgbClr val="000000"/>
                </a:solidFill>
                <a:latin typeface="Open Sans"/>
                <a:ea typeface="Open Sans"/>
                <a:cs typeface="Open Sans"/>
                <a:sym typeface="Open Sans"/>
              </a:rPr>
              <a:t> Contoh: benda berdiri → digambar seperti posisi berdiri.</a:t>
            </a:r>
          </a:p>
          <a:p>
            <a:pPr algn="l">
              <a:lnSpc>
                <a:spcPts val="4527"/>
              </a:lnSpc>
            </a:pPr>
            <a:r>
              <a:rPr lang="en-US" sz="3233">
                <a:solidFill>
                  <a:srgbClr val="000000"/>
                </a:solidFill>
                <a:latin typeface="Open Sans"/>
                <a:ea typeface="Open Sans"/>
                <a:cs typeface="Open Sans"/>
                <a:sym typeface="Open Sans"/>
              </a:rPr>
              <a:t>4. Minim garis tersembunyi</a:t>
            </a:r>
          </a:p>
          <a:p>
            <a:pPr marL="698212" lvl="1" indent="-349106" algn="l">
              <a:lnSpc>
                <a:spcPts val="4527"/>
              </a:lnSpc>
              <a:buFont typeface="Arial"/>
              <a:buChar char="•"/>
            </a:pPr>
            <a:r>
              <a:rPr lang="en-US" sz="3233">
                <a:solidFill>
                  <a:srgbClr val="000000"/>
                </a:solidFill>
                <a:latin typeface="Open Sans"/>
                <a:ea typeface="Open Sans"/>
                <a:cs typeface="Open Sans"/>
                <a:sym typeface="Open Sans"/>
              </a:rPr>
              <a:t>Semakin sedikit garis tersembunyi, semakin baik pandangan depan.</a:t>
            </a:r>
          </a:p>
          <a:p>
            <a:pPr algn="l">
              <a:lnSpc>
                <a:spcPts val="4527"/>
              </a:lnSpc>
            </a:pPr>
            <a:endParaRPr lang="en-US" sz="3233">
              <a:solidFill>
                <a:srgbClr val="000000"/>
              </a:solidFill>
              <a:latin typeface="Open Sans"/>
              <a:ea typeface="Open Sans"/>
              <a:cs typeface="Open Sans"/>
              <a:sym typeface="Open Sans"/>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6F2"/>
        </a:solidFill>
        <a:effectLst/>
      </p:bgPr>
    </p:bg>
    <p:spTree>
      <p:nvGrpSpPr>
        <p:cNvPr id="1" name=""/>
        <p:cNvGrpSpPr/>
        <p:nvPr/>
      </p:nvGrpSpPr>
      <p:grpSpPr>
        <a:xfrm>
          <a:off x="0" y="0"/>
          <a:ext cx="0" cy="0"/>
          <a:chOff x="0" y="0"/>
          <a:chExt cx="0" cy="0"/>
        </a:xfrm>
      </p:grpSpPr>
      <p:sp>
        <p:nvSpPr>
          <p:cNvPr id="2" name="Freeform 2"/>
          <p:cNvSpPr/>
          <p:nvPr/>
        </p:nvSpPr>
        <p:spPr>
          <a:xfrm>
            <a:off x="3162466" y="777819"/>
            <a:ext cx="4681152" cy="5462986"/>
          </a:xfrm>
          <a:custGeom>
            <a:avLst/>
            <a:gdLst/>
            <a:ahLst/>
            <a:cxnLst/>
            <a:rect l="l" t="t" r="r" b="b"/>
            <a:pathLst>
              <a:path w="4681152" h="5462986">
                <a:moveTo>
                  <a:pt x="0" y="0"/>
                </a:moveTo>
                <a:lnTo>
                  <a:pt x="4681152" y="0"/>
                </a:lnTo>
                <a:lnTo>
                  <a:pt x="4681152" y="5462986"/>
                </a:lnTo>
                <a:lnTo>
                  <a:pt x="0" y="5462986"/>
                </a:lnTo>
                <a:lnTo>
                  <a:pt x="0" y="0"/>
                </a:lnTo>
                <a:close/>
              </a:path>
            </a:pathLst>
          </a:custGeom>
          <a:blipFill>
            <a:blip r:embed="rId2"/>
            <a:stretch>
              <a:fillRect l="-12804" t="-30516" r="-278760" b="-145392"/>
            </a:stretch>
          </a:blipFill>
        </p:spPr>
      </p:sp>
      <p:sp>
        <p:nvSpPr>
          <p:cNvPr id="3" name="Freeform 3"/>
          <p:cNvSpPr/>
          <p:nvPr/>
        </p:nvSpPr>
        <p:spPr>
          <a:xfrm>
            <a:off x="12143272" y="5072937"/>
            <a:ext cx="4514673" cy="4919783"/>
          </a:xfrm>
          <a:custGeom>
            <a:avLst/>
            <a:gdLst/>
            <a:ahLst/>
            <a:cxnLst/>
            <a:rect l="l" t="t" r="r" b="b"/>
            <a:pathLst>
              <a:path w="4514673" h="4919783">
                <a:moveTo>
                  <a:pt x="0" y="0"/>
                </a:moveTo>
                <a:lnTo>
                  <a:pt x="4514673" y="0"/>
                </a:lnTo>
                <a:lnTo>
                  <a:pt x="4514673" y="4919783"/>
                </a:lnTo>
                <a:lnTo>
                  <a:pt x="0" y="4919783"/>
                </a:lnTo>
                <a:lnTo>
                  <a:pt x="0" y="0"/>
                </a:lnTo>
                <a:close/>
              </a:path>
            </a:pathLst>
          </a:custGeom>
          <a:blipFill>
            <a:blip r:embed="rId3"/>
            <a:stretch>
              <a:fillRect l="-118175" t="-141258" r="-242682" b="-106508"/>
            </a:stretch>
          </a:blipFill>
        </p:spPr>
      </p:sp>
      <p:sp>
        <p:nvSpPr>
          <p:cNvPr id="4" name="Freeform 4"/>
          <p:cNvSpPr/>
          <p:nvPr/>
        </p:nvSpPr>
        <p:spPr>
          <a:xfrm>
            <a:off x="7754055" y="4678998"/>
            <a:ext cx="4707781" cy="5707660"/>
          </a:xfrm>
          <a:custGeom>
            <a:avLst/>
            <a:gdLst/>
            <a:ahLst/>
            <a:cxnLst/>
            <a:rect l="l" t="t" r="r" b="b"/>
            <a:pathLst>
              <a:path w="4707781" h="5707660">
                <a:moveTo>
                  <a:pt x="0" y="0"/>
                </a:moveTo>
                <a:lnTo>
                  <a:pt x="4707781" y="0"/>
                </a:lnTo>
                <a:lnTo>
                  <a:pt x="4707781" y="5707660"/>
                </a:lnTo>
                <a:lnTo>
                  <a:pt x="0" y="5707660"/>
                </a:lnTo>
                <a:lnTo>
                  <a:pt x="0" y="0"/>
                </a:lnTo>
                <a:close/>
              </a:path>
            </a:pathLst>
          </a:custGeom>
          <a:blipFill>
            <a:blip r:embed="rId3"/>
            <a:stretch>
              <a:fillRect l="-219861" t="-115067" r="-119861" b="-83180"/>
            </a:stretch>
          </a:blipFill>
        </p:spPr>
      </p:sp>
      <p:sp>
        <p:nvSpPr>
          <p:cNvPr id="5" name="Freeform 5"/>
          <p:cNvSpPr/>
          <p:nvPr/>
        </p:nvSpPr>
        <p:spPr>
          <a:xfrm>
            <a:off x="12342699" y="435023"/>
            <a:ext cx="3948321" cy="4475680"/>
          </a:xfrm>
          <a:custGeom>
            <a:avLst/>
            <a:gdLst/>
            <a:ahLst/>
            <a:cxnLst/>
            <a:rect l="l" t="t" r="r" b="b"/>
            <a:pathLst>
              <a:path w="3948321" h="4475680">
                <a:moveTo>
                  <a:pt x="0" y="0"/>
                </a:moveTo>
                <a:lnTo>
                  <a:pt x="3948321" y="0"/>
                </a:lnTo>
                <a:lnTo>
                  <a:pt x="3948321" y="4475680"/>
                </a:lnTo>
                <a:lnTo>
                  <a:pt x="0" y="4475680"/>
                </a:lnTo>
                <a:lnTo>
                  <a:pt x="0" y="0"/>
                </a:lnTo>
                <a:close/>
              </a:path>
            </a:pathLst>
          </a:custGeom>
          <a:blipFill>
            <a:blip r:embed="rId3"/>
            <a:stretch>
              <a:fillRect l="-132718" t="-266303" r="-272229"/>
            </a:stretch>
          </a:blipFill>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6F2"/>
        </a:solidFill>
        <a:effectLst/>
      </p:bgPr>
    </p:bg>
    <p:spTree>
      <p:nvGrpSpPr>
        <p:cNvPr id="1" name=""/>
        <p:cNvGrpSpPr/>
        <p:nvPr/>
      </p:nvGrpSpPr>
      <p:grpSpPr>
        <a:xfrm>
          <a:off x="0" y="0"/>
          <a:ext cx="0" cy="0"/>
          <a:chOff x="0" y="0"/>
          <a:chExt cx="0" cy="0"/>
        </a:xfrm>
      </p:grpSpPr>
      <p:sp>
        <p:nvSpPr>
          <p:cNvPr id="2" name="Freeform 2"/>
          <p:cNvSpPr/>
          <p:nvPr/>
        </p:nvSpPr>
        <p:spPr>
          <a:xfrm>
            <a:off x="214530" y="252621"/>
            <a:ext cx="18402243" cy="11143988"/>
          </a:xfrm>
          <a:custGeom>
            <a:avLst/>
            <a:gdLst/>
            <a:ahLst/>
            <a:cxnLst/>
            <a:rect l="l" t="t" r="r" b="b"/>
            <a:pathLst>
              <a:path w="18402243" h="11143988">
                <a:moveTo>
                  <a:pt x="0" y="0"/>
                </a:moveTo>
                <a:lnTo>
                  <a:pt x="18402243" y="0"/>
                </a:lnTo>
                <a:lnTo>
                  <a:pt x="18402243" y="11143988"/>
                </a:lnTo>
                <a:lnTo>
                  <a:pt x="0" y="11143988"/>
                </a:lnTo>
                <a:lnTo>
                  <a:pt x="0" y="0"/>
                </a:lnTo>
                <a:close/>
              </a:path>
            </a:pathLst>
          </a:custGeom>
          <a:blipFill>
            <a:blip r:embed="rId2"/>
            <a:stretch>
              <a:fillRect/>
            </a:stretch>
          </a:blipFill>
        </p:spPr>
      </p:sp>
      <p:sp>
        <p:nvSpPr>
          <p:cNvPr id="3" name="TextBox 3"/>
          <p:cNvSpPr txBox="1"/>
          <p:nvPr/>
        </p:nvSpPr>
        <p:spPr>
          <a:xfrm>
            <a:off x="1028700" y="965587"/>
            <a:ext cx="8680035" cy="822994"/>
          </a:xfrm>
          <a:prstGeom prst="rect">
            <a:avLst/>
          </a:prstGeom>
        </p:spPr>
        <p:txBody>
          <a:bodyPr lIns="0" tIns="0" rIns="0" bIns="0" rtlCol="0" anchor="t">
            <a:spAutoFit/>
          </a:bodyPr>
          <a:lstStyle/>
          <a:p>
            <a:pPr algn="l">
              <a:lnSpc>
                <a:spcPts val="6151"/>
              </a:lnSpc>
              <a:spcBef>
                <a:spcPct val="0"/>
              </a:spcBef>
            </a:pPr>
            <a:r>
              <a:rPr lang="en-US" sz="6151" b="1" spc="-369">
                <a:solidFill>
                  <a:srgbClr val="000000"/>
                </a:solidFill>
                <a:latin typeface="Montserrat Bold"/>
                <a:ea typeface="Montserrat Bold"/>
                <a:cs typeface="Montserrat Bold"/>
                <a:sym typeface="Montserrat Bold"/>
              </a:rPr>
              <a:t>Contoh </a:t>
            </a:r>
          </a:p>
        </p:txBody>
      </p:sp>
      <p:sp>
        <p:nvSpPr>
          <p:cNvPr id="4" name="TextBox 4"/>
          <p:cNvSpPr txBox="1"/>
          <p:nvPr/>
        </p:nvSpPr>
        <p:spPr>
          <a:xfrm>
            <a:off x="7890269" y="696288"/>
            <a:ext cx="1525383" cy="4293723"/>
          </a:xfrm>
          <a:prstGeom prst="rect">
            <a:avLst/>
          </a:prstGeom>
        </p:spPr>
        <p:txBody>
          <a:bodyPr lIns="0" tIns="0" rIns="0" bIns="0" rtlCol="0" anchor="t">
            <a:spAutoFit/>
          </a:bodyPr>
          <a:lstStyle/>
          <a:p>
            <a:pPr algn="ctr">
              <a:lnSpc>
                <a:spcPts val="35244"/>
              </a:lnSpc>
            </a:pPr>
            <a:r>
              <a:rPr lang="en-US" sz="25174" b="1">
                <a:solidFill>
                  <a:srgbClr val="000000"/>
                </a:solidFill>
                <a:latin typeface="Open Sans Bold"/>
                <a:ea typeface="Open Sans Bold"/>
                <a:cs typeface="Open Sans Bold"/>
                <a:sym typeface="Open Sans Bold"/>
              </a:rPr>
              <a: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281</Words>
  <Application>Microsoft Office PowerPoint</Application>
  <PresentationFormat>Custom</PresentationFormat>
  <Paragraphs>36</Paragraphs>
  <Slides>11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Montserrat Ultra-Bold</vt:lpstr>
      <vt:lpstr>Montserrat</vt:lpstr>
      <vt:lpstr>Calibri</vt:lpstr>
      <vt:lpstr>Open Sans</vt:lpstr>
      <vt:lpstr>Montserrat Bold</vt:lpstr>
      <vt:lpstr>Open Sans Bold</vt:lpstr>
      <vt:lpstr>Arial</vt:lpstr>
      <vt:lpstr>Glacial Indifference</vt:lpstr>
      <vt:lpstr>Amsterdam Four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Proyeksi</dc:title>
  <cp:lastModifiedBy>satriya nugraha</cp:lastModifiedBy>
  <cp:revision>3</cp:revision>
  <dcterms:created xsi:type="dcterms:W3CDTF">2006-08-16T00:00:00Z</dcterms:created>
  <dcterms:modified xsi:type="dcterms:W3CDTF">2026-05-08T06:49:35Z</dcterms:modified>
  <dc:identifier>DAHFmJyETSU</dc:identifier>
</cp:coreProperties>
</file>